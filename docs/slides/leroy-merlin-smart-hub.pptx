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53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4532D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1F7A3F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2377440" y="4206240"/>
            <a:ext cx="5029200" cy="5029200"/>
          </a:xfrm>
          <a:prstGeom prst="ellipse">
            <a:avLst/>
          </a:prstGeom>
          <a:solidFill>
            <a:srgbClr val="1F7A3F">
              <a:alpha val="45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554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HUB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874520"/>
            <a:ext cx="9875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Leroy Merlin Smart Hub</a:t>
            </a:r>
            <a:endParaRPr lang="en-US" sz="4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88036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FE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Logistics Extension — Enterprise Challenge, Atividade 4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822960" y="3794760"/>
            <a:ext cx="8778240" cy="1417320"/>
          </a:xfrm>
          <a:prstGeom prst="roundRect">
            <a:avLst>
              <a:gd name="adj" fmla="val 6452"/>
            </a:avLst>
          </a:prstGeom>
          <a:solidFill>
            <a:srgbClr val="FFFFFF">
              <a:alpha val="94000"/>
            </a:srgbClr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051560" y="3977640"/>
            <a:ext cx="8321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45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Vídeo (YouTube):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A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[preencher após publicar]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45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Repositório (GitHub): </a:t>
            </a:r>
            <a:pPr indent="0" marL="0">
              <a:buNone/>
            </a:pPr>
            <a:r>
              <a:rPr lang="en-US" sz="1400" dirty="0">
                <a:solidFill>
                  <a:srgbClr val="1A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[preencher com a URL deste repositório]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562356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Leonardo Marsiarelli  ·  RM 555366  ·  Turma 3SIOA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5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problema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737360"/>
            <a:ext cx="10881360" cy="1280160"/>
          </a:xfrm>
          <a:prstGeom prst="roundRect">
            <a:avLst>
              <a:gd name="adj" fmla="val 6429"/>
            </a:avLst>
          </a:prstGeom>
          <a:solidFill>
            <a:srgbClr val="F1F6F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14400" y="2057400"/>
            <a:ext cx="640080" cy="640080"/>
          </a:xfrm>
          <a:prstGeom prst="ellipse">
            <a:avLst/>
          </a:prstGeom>
          <a:solidFill>
            <a:srgbClr val="1F7A3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20574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783080" y="1874520"/>
            <a:ext cx="9509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Ruptura de estoque: produtos acabam sem aviso, a loja só percebe tarde.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40080" y="3246120"/>
            <a:ext cx="10881360" cy="1280160"/>
          </a:xfrm>
          <a:prstGeom prst="roundRect">
            <a:avLst>
              <a:gd name="adj" fmla="val 6429"/>
            </a:avLst>
          </a:prstGeom>
          <a:solidFill>
            <a:srgbClr val="F1F6F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914400" y="3566160"/>
            <a:ext cx="640080" cy="640080"/>
          </a:xfrm>
          <a:prstGeom prst="ellipse">
            <a:avLst/>
          </a:prstGeom>
          <a:solidFill>
            <a:srgbClr val="1F7A3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14400" y="3566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⇄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1783080" y="3383280"/>
            <a:ext cx="9509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Reposição decidida manualmente entre múltiplas lojas gera rotas de entrega maiores e mais custosas.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40080" y="4754880"/>
            <a:ext cx="10881360" cy="1280160"/>
          </a:xfrm>
          <a:prstGeom prst="roundRect">
            <a:avLst>
              <a:gd name="adj" fmla="val 6429"/>
            </a:avLst>
          </a:prstGeom>
          <a:solidFill>
            <a:srgbClr val="F1F6F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914400" y="5074920"/>
            <a:ext cx="640080" cy="640080"/>
          </a:xfrm>
          <a:prstGeom prst="ellipse">
            <a:avLst/>
          </a:prstGeom>
          <a:solidFill>
            <a:srgbClr val="1F7A3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14400" y="5074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1783080" y="4892040"/>
            <a:ext cx="9509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Consequência direta: venda perdida + custo logístico maior.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6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 do desafio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804672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6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Challenge — Leroy Merlin Smart Hub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5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proposta de valor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691640"/>
            <a:ext cx="5120640" cy="4206240"/>
          </a:xfrm>
          <a:prstGeom prst="roundRect">
            <a:avLst>
              <a:gd name="adj" fmla="val 2174"/>
            </a:avLst>
          </a:prstGeom>
          <a:solidFill>
            <a:srgbClr val="F1F6F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9202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5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Smart Hub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514600"/>
            <a:ext cx="4572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▪"/>
            </a:pPr>
            <a:r>
              <a:rPr lang="en-US" sz="1500" dirty="0">
                <a:solidFill>
                  <a:srgbClr val="1A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Painel único de estoque para toda a rede de lojas.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989320" y="1691640"/>
            <a:ext cx="5577840" cy="4206240"/>
          </a:xfrm>
          <a:prstGeom prst="roundRect">
            <a:avLst>
              <a:gd name="adj" fmla="val 2174"/>
            </a:avLst>
          </a:prstGeom>
          <a:solidFill>
            <a:srgbClr val="14532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309360" y="192024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Logistics Extension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309360" y="251460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4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Camada de IA que decide, com dados, o que repor e qual a melhor rota de entrega.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309360" y="3703320"/>
            <a:ext cx="4937760" cy="1965960"/>
          </a:xfrm>
          <a:prstGeom prst="roundRect">
            <a:avLst>
              <a:gd name="adj" fmla="val 3721"/>
            </a:avLst>
          </a:prstGeom>
          <a:solidFill>
            <a:srgbClr val="FFFFFF">
              <a:alpha val="15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92240" y="384048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~29%</a:t>
            </a:r>
            <a:endParaRPr lang="en-US" sz="4800" dirty="0"/>
          </a:p>
        </p:txBody>
      </p:sp>
      <p:sp>
        <p:nvSpPr>
          <p:cNvPr id="11" name="Text 9"/>
          <p:cNvSpPr txBox="1"/>
          <p:nvPr/>
        </p:nvSpPr>
        <p:spPr>
          <a:xfrm>
            <a:off x="6492240" y="470916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4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redução na distância percorrida pela rota de reposição (cenário de demonstração)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6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estamos entregando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804672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6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Challenge — Leroy Merlin Smart Hub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5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Arquitetura da solução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691640"/>
            <a:ext cx="49377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▪"/>
            </a:pPr>
            <a:r>
              <a:rPr lang="en-US" sz="1500" dirty="0">
                <a:solidFill>
                  <a:srgbClr val="1A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Back-end: FastAPI + SQLAlchemy + SQLite (Python)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▪"/>
            </a:pPr>
            <a:r>
              <a:rPr lang="en-US" sz="1500" dirty="0">
                <a:solidFill>
                  <a:srgbClr val="1A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Front-end: dashboard web (HTML/CSS/JS), sem dependências externas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▪"/>
            </a:pPr>
            <a:r>
              <a:rPr lang="en-US" sz="1500" dirty="0">
                <a:solidFill>
                  <a:srgbClr val="1A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Dois módulos de IA: demand_forecast.py e route_optimizer.py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02920" y="4709160"/>
            <a:ext cx="1627632" cy="1051560"/>
          </a:xfrm>
          <a:prstGeom prst="roundRect">
            <a:avLst>
              <a:gd name="adj" fmla="val 6957"/>
            </a:avLst>
          </a:prstGeom>
          <a:solidFill>
            <a:srgbClr val="1F7A3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02920" y="4709160"/>
            <a:ext cx="16276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Lojas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130552" y="4709160"/>
            <a:ext cx="21945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5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350008" y="4709160"/>
            <a:ext cx="1627632" cy="1051560"/>
          </a:xfrm>
          <a:prstGeom prst="roundRect">
            <a:avLst>
              <a:gd name="adj" fmla="val 6957"/>
            </a:avLst>
          </a:prstGeom>
          <a:solidFill>
            <a:srgbClr val="1F7A3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2350008" y="4709160"/>
            <a:ext cx="16276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Histórico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vendas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3977640" y="4709160"/>
            <a:ext cx="21945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5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197096" y="4709160"/>
            <a:ext cx="1627632" cy="1051560"/>
          </a:xfrm>
          <a:prstGeom prst="roundRect">
            <a:avLst>
              <a:gd name="adj" fmla="val 6957"/>
            </a:avLst>
          </a:prstGeom>
          <a:solidFill>
            <a:srgbClr val="1F7A3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197096" y="4709160"/>
            <a:ext cx="16276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Previsão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demanda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824728" y="4709160"/>
            <a:ext cx="21945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5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044184" y="4709160"/>
            <a:ext cx="1627632" cy="1051560"/>
          </a:xfrm>
          <a:prstGeom prst="roundRect">
            <a:avLst>
              <a:gd name="adj" fmla="val 6957"/>
            </a:avLst>
          </a:prstGeom>
          <a:solidFill>
            <a:srgbClr val="1F7A3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044184" y="4709160"/>
            <a:ext cx="16276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Lojas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críticas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7671816" y="4709160"/>
            <a:ext cx="21945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5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891272" y="4709160"/>
            <a:ext cx="1627632" cy="1051560"/>
          </a:xfrm>
          <a:prstGeom prst="roundRect">
            <a:avLst>
              <a:gd name="adj" fmla="val 6957"/>
            </a:avLst>
          </a:prstGeom>
          <a:solidFill>
            <a:srgbClr val="1F7A3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891272" y="4709160"/>
            <a:ext cx="16276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Otimizador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rota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9518904" y="4709160"/>
            <a:ext cx="21945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5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9738360" y="4709160"/>
            <a:ext cx="1627632" cy="1051560"/>
          </a:xfrm>
          <a:prstGeom prst="roundRect">
            <a:avLst>
              <a:gd name="adj" fmla="val 6957"/>
            </a:avLst>
          </a:prstGeom>
          <a:solidFill>
            <a:srgbClr val="C9A227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738360" y="4709160"/>
            <a:ext cx="16276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5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45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6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o produto foi construído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804672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6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Challenge — Leroy Merlin Smart Hub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5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Logistics Extension: previsão de demanda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783080"/>
            <a:ext cx="48463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▪"/>
            </a:pPr>
            <a:r>
              <a:rPr lang="en-US" sz="1550" dirty="0">
                <a:solidFill>
                  <a:srgbClr val="1A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Técnica: suavização exponencial dupla (Holt) sobre 30 dias de vendas</a:t>
            </a:r>
            <a:endParaRPr lang="en-US" sz="1550" dirty="0"/>
          </a:p>
          <a:p>
            <a:pPr marL="342900" indent="-342900">
              <a:spcAft>
                <a:spcPts val="1400"/>
              </a:spcAft>
              <a:buSzPct val="100000"/>
              <a:buChar char="▪"/>
            </a:pPr>
            <a:r>
              <a:rPr lang="en-US" sz="1550" dirty="0">
                <a:solidFill>
                  <a:srgbClr val="1A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Saída: projeção diária de demanda + quantidade sugerida de reposição, considerando estoque de segurança por produto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5852160" y="1691640"/>
            <a:ext cx="5715000" cy="4160520"/>
          </a:xfrm>
          <a:prstGeom prst="roundRect">
            <a:avLst>
              <a:gd name="adj" fmla="val 2198"/>
            </a:avLst>
          </a:prstGeom>
          <a:solidFill>
            <a:srgbClr val="F1F6F2"/>
          </a:solidFill>
          <a:ln w="12700">
            <a:solidFill>
              <a:srgbClr val="CFE0D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852160" y="2651760"/>
            <a:ext cx="5715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9F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▦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6126480" y="3840480"/>
            <a:ext cx="5166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B66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[Inserir print do dashboard com o gráfico de previsão]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6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de IA — demanda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804672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6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Challenge — Leroy Merlin Smart Hub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5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Logistics Extension: roteirização de entregas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783080"/>
            <a:ext cx="48463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▪"/>
            </a:pPr>
            <a:r>
              <a:rPr lang="en-US" sz="1550" dirty="0">
                <a:solidFill>
                  <a:srgbClr val="1A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Técnica: heurística do vizinho mais próximo + refinamento 2-opt sobre distância geográfica real (Haversine)</a:t>
            </a:r>
            <a:endParaRPr lang="en-US" sz="1550" dirty="0"/>
          </a:p>
          <a:p>
            <a:pPr marL="342900" indent="-342900">
              <a:spcAft>
                <a:spcPts val="1400"/>
              </a:spcAft>
              <a:buSzPct val="100000"/>
              <a:buChar char="▪"/>
            </a:pPr>
            <a:r>
              <a:rPr lang="en-US" sz="1550" dirty="0">
                <a:solidFill>
                  <a:srgbClr val="1A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Entrada: lojas com estoque crítico identificadas automaticamente pela previsão de demanda</a:t>
            </a:r>
            <a:endParaRPr lang="en-US" sz="1550" dirty="0"/>
          </a:p>
          <a:p>
            <a:pPr marL="342900" indent="-342900">
              <a:spcAft>
                <a:spcPts val="1400"/>
              </a:spcAft>
              <a:buSzPct val="100000"/>
              <a:buChar char="▪"/>
            </a:pPr>
            <a:r>
              <a:rPr lang="en-US" sz="1550" dirty="0">
                <a:solidFill>
                  <a:srgbClr val="1A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Saída: rota ordenada a partir do Centro de Distribuição, com economia de distância comparada a uma rota não otimizada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5852160" y="1691640"/>
            <a:ext cx="5715000" cy="4160520"/>
          </a:xfrm>
          <a:prstGeom prst="roundRect">
            <a:avLst>
              <a:gd name="adj" fmla="val 2198"/>
            </a:avLst>
          </a:prstGeom>
          <a:solidFill>
            <a:srgbClr val="F1F6F2"/>
          </a:solidFill>
          <a:ln w="12700">
            <a:solidFill>
              <a:srgbClr val="CFE0D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852160" y="2651760"/>
            <a:ext cx="5715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9F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▦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6126480" y="3840480"/>
            <a:ext cx="5166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B66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[Inserir print do dashboard com o plano de rota]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6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de IA — logística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804672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6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Challenge — Leroy Merlin Smart Hub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53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4206240"/>
            <a:ext cx="4754880" cy="4754880"/>
          </a:xfrm>
          <a:prstGeom prst="ellipse">
            <a:avLst/>
          </a:prstGeom>
          <a:solidFill>
            <a:srgbClr val="1F7A3F">
              <a:alpha val="40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2286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Demonstração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788920"/>
            <a:ext cx="10515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seguir, veja o produto</a:t>
            </a:r>
            <a:endParaRPr lang="en-US" sz="3800" dirty="0"/>
          </a:p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funcionando de ponta a ponta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4348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FE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(transição para o vídeo / demonstração ao vivo)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5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Produto concluído e escopo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691640"/>
            <a:ext cx="5303520" cy="4206240"/>
          </a:xfrm>
          <a:prstGeom prst="roundRect">
            <a:avLst>
              <a:gd name="adj" fmla="val 2174"/>
            </a:avLst>
          </a:prstGeom>
          <a:solidFill>
            <a:srgbClr val="F1F6F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9202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5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Concluído e testado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514600"/>
            <a:ext cx="47548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▪"/>
            </a:pPr>
            <a:r>
              <a:rPr lang="en-US" sz="1500" dirty="0">
                <a:solidFill>
                  <a:srgbClr val="1A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Gestão de estoque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▪"/>
            </a:pPr>
            <a:r>
              <a:rPr lang="en-US" sz="1500" dirty="0">
                <a:solidFill>
                  <a:srgbClr val="1A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Previsão de demanda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▪"/>
            </a:pPr>
            <a:r>
              <a:rPr lang="en-US" sz="1500" dirty="0">
                <a:solidFill>
                  <a:srgbClr val="1A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Roteirização de entregas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▪"/>
            </a:pPr>
            <a:r>
              <a:rPr lang="en-US" sz="1500" dirty="0">
                <a:solidFill>
                  <a:srgbClr val="1A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funcional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▪"/>
            </a:pPr>
            <a:r>
              <a:rPr lang="en-US" sz="1500" dirty="0">
                <a:solidFill>
                  <a:srgbClr val="1A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automatizados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172200" y="1691640"/>
            <a:ext cx="5394960" cy="4206240"/>
          </a:xfrm>
          <a:prstGeom prst="roundRect">
            <a:avLst>
              <a:gd name="adj" fmla="val 2174"/>
            </a:avLst>
          </a:prstGeom>
          <a:solidFill>
            <a:srgbClr val="F3EFE3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46520" y="19202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8A6D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Fora do escopo acadêmico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446520" y="2514600"/>
            <a:ext cx="4846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▪"/>
            </a:pPr>
            <a:r>
              <a:rPr lang="en-US" sz="1500" dirty="0">
                <a:solidFill>
                  <a:srgbClr val="1A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Integração com sistemas legados reais da empresa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▪"/>
            </a:pPr>
            <a:r>
              <a:rPr lang="en-US" sz="1500" dirty="0">
                <a:solidFill>
                  <a:srgbClr val="1A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Processamento de pagamentos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6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Coerência entre o prometido e o entregue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804672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6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Challenge — Leroy Merlin Smart Hub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5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Autor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3259836" y="1737360"/>
            <a:ext cx="5669280" cy="3200400"/>
          </a:xfrm>
          <a:prstGeom prst="roundRect">
            <a:avLst>
              <a:gd name="adj" fmla="val 2857"/>
            </a:avLst>
          </a:prstGeom>
          <a:solidFill>
            <a:srgbClr val="F1F6F2"/>
          </a:solidFill>
          <a:ln w="12700">
            <a:solidFill>
              <a:srgbClr val="1F7A3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271516" y="2148840"/>
            <a:ext cx="1645920" cy="1645920"/>
          </a:xfrm>
          <a:prstGeom prst="ellipse">
            <a:avLst/>
          </a:prstGeom>
          <a:solidFill>
            <a:srgbClr val="1F7A3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271516" y="2148840"/>
            <a:ext cx="1645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LM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3442716" y="393192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45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Leonardo Marsiarelli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3442716" y="438912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B66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 555366  ·  Turma 3SIOA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5257800"/>
            <a:ext cx="10881360" cy="685800"/>
          </a:xfrm>
          <a:prstGeom prst="roundRect">
            <a:avLst>
              <a:gd name="adj" fmla="val 10667"/>
            </a:avLst>
          </a:prstGeom>
          <a:solidFill>
            <a:srgbClr val="14532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525780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Participação no FIAP NEXT 2026 (24/10, ARCA Spaces, São Paulo): [SIM / NÃO — preencher]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6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construiu este projeto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804672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6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Challenge — Leroy Merlin Smart Hub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53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560320" y="-2286000"/>
            <a:ext cx="5943600" cy="5943600"/>
          </a:xfrm>
          <a:prstGeom prst="ellipse">
            <a:avLst/>
          </a:prstGeom>
          <a:solidFill>
            <a:srgbClr val="1F7A3F">
              <a:alpha val="45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37160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Obrigado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822960" y="2651760"/>
            <a:ext cx="3383280" cy="1188720"/>
          </a:xfrm>
          <a:prstGeom prst="roundRect">
            <a:avLst>
              <a:gd name="adj" fmla="val 6154"/>
            </a:avLst>
          </a:prstGeom>
          <a:solidFill>
            <a:srgbClr val="FFFFFF">
              <a:alpha val="15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05840" y="265176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ruptura de estoque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434840" y="2651760"/>
            <a:ext cx="3383280" cy="1188720"/>
          </a:xfrm>
          <a:prstGeom prst="roundRect">
            <a:avLst>
              <a:gd name="adj" fmla="val 6154"/>
            </a:avLst>
          </a:prstGeom>
          <a:solidFill>
            <a:srgbClr val="FFFFFF">
              <a:alpha val="15000"/>
            </a:srgbClr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617720" y="265176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quilômetro rodado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046720" y="2651760"/>
            <a:ext cx="3383280" cy="1188720"/>
          </a:xfrm>
          <a:prstGeom prst="roundRect">
            <a:avLst>
              <a:gd name="adj" fmla="val 6154"/>
            </a:avLst>
          </a:prstGeom>
          <a:solidFill>
            <a:srgbClr val="FFFFFF">
              <a:alpha val="15000"/>
            </a:srgbClr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0" y="265176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Decisão logística baseada em dados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42976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FE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Repositório: [link]   ·   Vídeo: [link]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61264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C7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Leonardo Marsiarelli · RM 555366 · Turma 3SIOA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2026-09-16T00:15:50Z</dcterms:created>
  <dcterms:modified xsi:type="dcterms:W3CDTF">2026-09-16T00:15:50Z</dcterms:modified>
</cp:coreProperties>
</file>